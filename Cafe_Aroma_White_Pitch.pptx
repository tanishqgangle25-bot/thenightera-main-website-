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1D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The Aroma White Audit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>
                <a:solidFill>
                  <a:srgbClr val="B4B4B4"/>
                </a:solidFill>
              </a:rPr>
              <a:t>Exposing the Brand Gap</a:t>
            </a:r>
          </a:p>
          <a:p/>
          <a:p>
            <a:r>
              <a:rPr>
                <a:solidFill>
                  <a:srgbClr val="B4B4B4"/>
                </a:solidFill>
              </a:rPr>
              <a:t>Audited by thenightera</a:t>
            </a:r>
          </a:p>
          <a:p>
            <a:r>
              <a:rPr>
                <a:solidFill>
                  <a:srgbClr val="B4B4B4"/>
                </a:solidFill>
              </a:rPr>
              <a:t>(Premium Brand &amp; Web Architects)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1D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3C3C"/>
                </a:solidFill>
              </a:rPr>
              <a:t>The Brutal Reality (Current Stats)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solidFill>
                  <a:srgbClr val="E6E6E6"/>
                </a:solidFill>
              </a:rPr>
              <a:t>Instagram Profile Data:</a:t>
            </a:r>
          </a:p>
          <a:p>
            <a:pPr lvl="1"/>
            <a:r>
              <a:rPr>
                <a:solidFill>
                  <a:srgbClr val="E6E6E6"/>
                </a:solidFill>
              </a:rPr>
              <a:t>• Followers: 158</a:t>
            </a:r>
          </a:p>
          <a:p>
            <a:pPr lvl="1"/>
            <a:r>
              <a:rPr>
                <a:solidFill>
                  <a:srgbClr val="E6E6E6"/>
                </a:solidFill>
              </a:rPr>
              <a:t>• Following: 78</a:t>
            </a:r>
          </a:p>
          <a:p>
            <a:pPr lvl="1"/>
            <a:r>
              <a:rPr>
                <a:solidFill>
                  <a:srgbClr val="E6E6E6"/>
                </a:solidFill>
              </a:rPr>
              <a:t>• Total Posts: 40</a:t>
            </a:r>
          </a:p>
          <a:p>
            <a:br/>
            <a:pPr>
              <a:defRPr b="1"/>
            </a:pPr>
            <a:r>
              <a:rPr>
                <a:solidFill>
                  <a:srgbClr val="E6E6E6"/>
                </a:solidFill>
              </a:rPr>
              <a:t>THE 158 FOLLOWER RED FLAG:</a:t>
            </a:r>
          </a:p>
          <a:p>
            <a:pPr lvl="1"/>
            <a:r>
              <a:rPr>
                <a:solidFill>
                  <a:srgbClr val="E6E6E6"/>
                </a:solidFill>
              </a:rPr>
              <a:t>40 posts in and only 158 followers is a critical failure in content distribution. It means the content has ZERO organic reach. In a competitive market like Mahalaxmi Nagar, having under 200 followers makes a cafe look unappealing to new visitors.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1D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The Core Mistakes (Why It's Failing)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solidFill>
                  <a:srgbClr val="E6E6E6"/>
                </a:solidFill>
              </a:rPr>
              <a:t>1. Treating Instagram Like a Menu Board</a:t>
            </a:r>
          </a:p>
          <a:p>
            <a:pPr lvl="1"/>
            <a:r>
              <a:rPr>
                <a:solidFill>
                  <a:srgbClr val="E6E6E6"/>
                </a:solidFill>
              </a:rPr>
              <a:t>Posting static photos of coffee cups with zero storytelling. People follow for the vibe and FOMO, not a static sandwich picture.</a:t>
            </a:r>
          </a:p>
          <a:p>
            <a:pPr/>
            <a:r>
              <a:rPr>
                <a:solidFill>
                  <a:srgbClr val="E6E6E6"/>
                </a:solidFill>
              </a:rPr>
              <a:t>2. Zero Viral Hook Strategy (The Video Deficit)</a:t>
            </a:r>
          </a:p>
          <a:p>
            <a:pPr lvl="1"/>
            <a:r>
              <a:rPr>
                <a:solidFill>
                  <a:srgbClr val="E6E6E6"/>
                </a:solidFill>
              </a:rPr>
              <a:t>Generic Canva templates and basic phone videos do not trigger the Instagram algorithm. Without high-retention cinematic Reels, growth is impossible.</a:t>
            </a:r>
          </a:p>
          <a:p>
            <a:pPr/>
            <a:r>
              <a:rPr>
                <a:solidFill>
                  <a:srgbClr val="E6E6E6"/>
                </a:solidFill>
              </a:rPr>
              <a:t>3. No Premium Brand Identity</a:t>
            </a:r>
          </a:p>
          <a:p>
            <a:pPr lvl="1"/>
            <a:r>
              <a:rPr>
                <a:solidFill>
                  <a:srgbClr val="E6E6E6"/>
                </a:solidFill>
              </a:rPr>
              <a:t>The grid lacks a cohesive color grading strategy, highlights are messy, and the bio doesn't convert profile visits into actual footfall.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1D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ECE6D8"/>
                </a:solidFill>
              </a:rPr>
              <a:t>The Solution: Why You Need thenightera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solidFill>
                  <a:srgbClr val="E6E6E6"/>
                </a:solidFill>
              </a:rPr>
              <a:t>To beat cafes with massive budgets, you need a Visual Monopoly:</a:t>
            </a:r>
          </a:p>
          <a:p>
            <a:pPr lvl="1">
              <a:defRPr b="1"/>
            </a:pPr>
            <a:r>
              <a:rPr>
                <a:solidFill>
                  <a:srgbClr val="E6E6E6"/>
                </a:solidFill>
              </a:rPr>
              <a:t>1. Heavy VFX &amp; Cinematic Reels</a:t>
            </a:r>
          </a:p>
          <a:p>
            <a:pPr lvl="2"/>
            <a:r>
              <a:rPr>
                <a:solidFill>
                  <a:srgbClr val="E6E6E6"/>
                </a:solidFill>
              </a:rPr>
              <a:t>Replacing boring statics with high-end, VFX-integrated video content that forces users to stop scrolling.</a:t>
            </a:r>
          </a:p>
          <a:p>
            <a:pPr lvl="1">
              <a:defRPr b="1"/>
            </a:pPr>
            <a:r>
              <a:rPr>
                <a:solidFill>
                  <a:srgbClr val="E6E6E6"/>
                </a:solidFill>
              </a:rPr>
              <a:t>2. The Premium Web Ecosystem</a:t>
            </a:r>
          </a:p>
          <a:p>
            <a:pPr lvl="2"/>
            <a:r>
              <a:rPr>
                <a:solidFill>
                  <a:srgbClr val="E6E6E6"/>
                </a:solidFill>
              </a:rPr>
              <a:t>Building a liquid-smooth, 3D interactive website. When a customer clicks the bio link, they enter a premium digital vault to book tables.</a:t>
            </a:r>
          </a:p>
          <a:p>
            <a:pPr lvl="1">
              <a:defRPr b="1"/>
            </a:pPr>
            <a:r>
              <a:rPr>
                <a:solidFill>
                  <a:srgbClr val="E6E6E6"/>
                </a:solidFill>
              </a:rPr>
              <a:t>3. Elite Aesthetic Overhaul</a:t>
            </a:r>
          </a:p>
          <a:p>
            <a:pPr lvl="2"/>
            <a:r>
              <a:rPr>
                <a:solidFill>
                  <a:srgbClr val="E6E6E6"/>
                </a:solidFill>
              </a:rPr>
              <a:t>Complete redesign of the grid with dark-mode aesthetics and strict color palettes to look like an international franchise.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1D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96FF96"/>
                </a:solidFill>
              </a:rPr>
              <a:t>The Expected ROI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solidFill>
                  <a:srgbClr val="E6E6E6"/>
                </a:solidFill>
              </a:rPr>
              <a:t>Trajectory after hiring thenightera:</a:t>
            </a:r>
          </a:p>
          <a:p>
            <a:pPr lvl="1">
              <a:defRPr b="1"/>
            </a:pPr>
            <a:r>
              <a:rPr>
                <a:solidFill>
                  <a:srgbClr val="E6E6E6"/>
                </a:solidFill>
              </a:rPr>
              <a:t>Month 1: The Rebrand</a:t>
            </a:r>
          </a:p>
          <a:p>
            <a:pPr lvl="2"/>
            <a:r>
              <a:rPr>
                <a:solidFill>
                  <a:srgbClr val="E6E6E6"/>
                </a:solidFill>
              </a:rPr>
              <a:t>Complete grid cleanup. Followers shift from a dead 158 to a highly engaged local community via targeted Reel distribution.</a:t>
            </a:r>
          </a:p>
          <a:p>
            <a:pPr lvl="1">
              <a:defRPr b="1"/>
            </a:pPr>
            <a:r>
              <a:rPr>
                <a:solidFill>
                  <a:srgbClr val="E6E6E6"/>
                </a:solidFill>
              </a:rPr>
              <a:t>Month 2: The Hype</a:t>
            </a:r>
          </a:p>
          <a:p>
            <a:pPr lvl="2"/>
            <a:r>
              <a:rPr>
                <a:solidFill>
                  <a:srgbClr val="E6E6E6"/>
                </a:solidFill>
              </a:rPr>
              <a:t>Viral local reach. People in Indore will start sharing the cinematic reels in DMs.</a:t>
            </a:r>
          </a:p>
          <a:p>
            <a:pPr lvl="1">
              <a:defRPr b="1"/>
            </a:pPr>
            <a:r>
              <a:rPr>
                <a:solidFill>
                  <a:srgbClr val="E6E6E6"/>
                </a:solidFill>
              </a:rPr>
              <a:t>Month 3: The Footfall Shift</a:t>
            </a:r>
          </a:p>
          <a:p>
            <a:pPr lvl="2"/>
            <a:r>
              <a:rPr>
                <a:solidFill>
                  <a:srgbClr val="E6E6E6"/>
                </a:solidFill>
              </a:rPr>
              <a:t>Digital traffic converts to physical footfall. Higher bookings, higher ticket sizes (premium brand = premium prices), and a cult-like following.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